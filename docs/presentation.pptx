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4740c27394744" /><Relationship Type="http://schemas.openxmlformats.org/officeDocument/2006/relationships/extended-properties" Target="/docProps/app.xml" Id="R21c7f4ea9dfa4dc3" /><Relationship Type="http://schemas.openxmlformats.org/officeDocument/2006/relationships/officeDocument" Target="/ppt/presentation.xml" Id="R7329bbfbba0a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9583c7f324ef3"/>
  </p:sldMasterIdLst>
  <p:notesMasterIdLst>
    <p:notesMasterId xmlns:r="http://schemas.openxmlformats.org/officeDocument/2006/relationships" r:id="R91d7a295dddc47fd"/>
  </p:notesMasterIdLst>
  <p:sldIdLst>
    <p:sldId xmlns:r="http://schemas.openxmlformats.org/officeDocument/2006/relationships" id="256" r:id="R8524a275cc614dcb"/>
    <p:sldId xmlns:r="http://schemas.openxmlformats.org/officeDocument/2006/relationships" id="257" r:id="Reda0cd5c2ff54963"/>
    <p:sldId xmlns:r="http://schemas.openxmlformats.org/officeDocument/2006/relationships" id="258" r:id="R6bf071d7d4ad4060"/>
    <p:sldId xmlns:r="http://schemas.openxmlformats.org/officeDocument/2006/relationships" id="259" r:id="Rb15e6b9f6f014cc4"/>
    <p:sldId xmlns:r="http://schemas.openxmlformats.org/officeDocument/2006/relationships" id="260" r:id="R364eef2a66674760"/>
    <p:sldId xmlns:r="http://schemas.openxmlformats.org/officeDocument/2006/relationships" id="261" r:id="R64a4311905584552"/>
    <p:sldId xmlns:r="http://schemas.openxmlformats.org/officeDocument/2006/relationships" id="262" r:id="Re5db4052da0e49aa"/>
    <p:sldId xmlns:r="http://schemas.openxmlformats.org/officeDocument/2006/relationships" id="263" r:id="R41a5e8792e60455f"/>
    <p:sldId xmlns:r="http://schemas.openxmlformats.org/officeDocument/2006/relationships" id="264" r:id="Rf83e3db0c0a349db"/>
    <p:sldId xmlns:r="http://schemas.openxmlformats.org/officeDocument/2006/relationships" id="265" r:id="Rc86d439ff2584302"/>
    <p:sldId xmlns:r="http://schemas.openxmlformats.org/officeDocument/2006/relationships" id="266" r:id="R94a78cc9c4e24659"/>
    <p:sldId xmlns:r="http://schemas.openxmlformats.org/officeDocument/2006/relationships" id="267" r:id="R1dd39798dff74b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688f318ebe433d" /><Relationship Type="http://schemas.openxmlformats.org/officeDocument/2006/relationships/slideMaster" Target="/ppt/slideMasters/slideMaster1.xml" Id="R8909583c7f324ef3" /><Relationship Type="http://schemas.openxmlformats.org/officeDocument/2006/relationships/notesMaster" Target="/ppt/notesMasters/notesMaster1.xml" Id="R91d7a295dddc47fd" /><Relationship Type="http://schemas.openxmlformats.org/officeDocument/2006/relationships/presProps" Target="/ppt/presProps.xml" Id="R3af334c847174de9" /><Relationship Type="http://schemas.openxmlformats.org/officeDocument/2006/relationships/tableStyles" Target="/ppt/tableStyles.xml" Id="Rc337710182c24528" /><Relationship Type="http://schemas.openxmlformats.org/officeDocument/2006/relationships/slide" Target="/ppt/slides/slide1.xml" Id="R8524a275cc614dcb" /><Relationship Type="http://schemas.openxmlformats.org/officeDocument/2006/relationships/slide" Target="/ppt/slides/slide2.xml" Id="Reda0cd5c2ff54963" /><Relationship Type="http://schemas.openxmlformats.org/officeDocument/2006/relationships/slide" Target="/ppt/slides/slide3.xml" Id="R6bf071d7d4ad4060" /><Relationship Type="http://schemas.openxmlformats.org/officeDocument/2006/relationships/slide" Target="/ppt/slides/slide4.xml" Id="Rb15e6b9f6f014cc4" /><Relationship Type="http://schemas.openxmlformats.org/officeDocument/2006/relationships/slide" Target="/ppt/slides/slide5.xml" Id="R364eef2a66674760" /><Relationship Type="http://schemas.openxmlformats.org/officeDocument/2006/relationships/slide" Target="/ppt/slides/slide6.xml" Id="R64a4311905584552" /><Relationship Type="http://schemas.openxmlformats.org/officeDocument/2006/relationships/slide" Target="/ppt/slides/slide7.xml" Id="Re5db4052da0e49aa" /><Relationship Type="http://schemas.openxmlformats.org/officeDocument/2006/relationships/slide" Target="/ppt/slides/slide8.xml" Id="R41a5e8792e60455f" /><Relationship Type="http://schemas.openxmlformats.org/officeDocument/2006/relationships/slide" Target="/ppt/slides/slide9.xml" Id="Rf83e3db0c0a349db" /><Relationship Type="http://schemas.openxmlformats.org/officeDocument/2006/relationships/slide" Target="/ppt/slides/slide10.xml" Id="Rc86d439ff2584302" /><Relationship Type="http://schemas.openxmlformats.org/officeDocument/2006/relationships/slide" Target="/ppt/slides/slide11.xml" Id="R94a78cc9c4e24659" /><Relationship Type="http://schemas.openxmlformats.org/officeDocument/2006/relationships/slide" Target="/ppt/slides/slide12.xml" Id="R1dd39798dff7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2bfd0639b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02d8dc09354bea" /><Relationship Type="http://schemas.openxmlformats.org/officeDocument/2006/relationships/notesMaster" Target="/ppt/notesMasters/notesMaster1.xml" Id="R8bb4f5a8b08847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6d8cfb85a54210" /><Relationship Type="http://schemas.openxmlformats.org/officeDocument/2006/relationships/notesMaster" Target="/ppt/notesMasters/notesMaster1.xml" Id="Re2e61d5ebd7c48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b91562b5ff4f6d" /><Relationship Type="http://schemas.openxmlformats.org/officeDocument/2006/relationships/notesMaster" Target="/ppt/notesMasters/notesMaster1.xml" Id="R218256cd1dea40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bf9d09116408a" /><Relationship Type="http://schemas.openxmlformats.org/officeDocument/2006/relationships/notesMaster" Target="/ppt/notesMasters/notesMaster1.xml" Id="Reb90a411795b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b6b33901a64c15" /><Relationship Type="http://schemas.openxmlformats.org/officeDocument/2006/relationships/notesMaster" Target="/ppt/notesMasters/notesMaster1.xml" Id="R2d0b873c79ad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b1d26e72a24079" /><Relationship Type="http://schemas.openxmlformats.org/officeDocument/2006/relationships/notesMaster" Target="/ppt/notesMasters/notesMaster1.xml" Id="Rcbfbbcb1db8847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83a0447c446ba" /><Relationship Type="http://schemas.openxmlformats.org/officeDocument/2006/relationships/notesMaster" Target="/ppt/notesMasters/notesMaster1.xml" Id="Rd9ffbd87428d48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dc320faadf4723" /><Relationship Type="http://schemas.openxmlformats.org/officeDocument/2006/relationships/notesMaster" Target="/ppt/notesMasters/notesMaster1.xml" Id="R4dd9e236d7ce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5bf6ab2f314dae" /><Relationship Type="http://schemas.openxmlformats.org/officeDocument/2006/relationships/notesMaster" Target="/ppt/notesMasters/notesMaster1.xml" Id="Rd5afc1dd4bc4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e0b50318144ff" /><Relationship Type="http://schemas.openxmlformats.org/officeDocument/2006/relationships/notesMaster" Target="/ppt/notesMasters/notesMaster1.xml" Id="Rc128cee23f6a4b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11b1a9e8bc4d70" /><Relationship Type="http://schemas.openxmlformats.org/officeDocument/2006/relationships/notesMaster" Target="/ppt/notesMasters/notesMaster1.xml" Id="R1976cf32f2de43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457535f2a74114" /><Relationship Type="http://schemas.openxmlformats.org/officeDocument/2006/relationships/notesMaster" Target="/ppt/notesMasters/notesMaster1.xml" Id="Rbb9c9a4ab15f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Прочие расходы — остаток общей категории после пяти опубликованных компонентов. Первые пять месяцев — расширяющееся окно.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Показаны все 2016 узлов и 700 наиболее весомых рёбер; координаты в фиксированном PCA-базисе января 2023, не карта. Метод: Leiden RBConfiguration, gamma=.5 выбран по SW в июне–августе2023 при минимальной группе20.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Семь групп: G1 транспорт и общепит; G5 умеренная доля маркетплейсов; G9 маркетплейсы и услуги; G11 продовольствие и маркетплейсы; G13 общепит и здоровье; G14 продовольственный смешанный; G15 диверсифицированный сервисный. Названия описательные, не отраслевая классификация.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Среднее11.7036058% в2023,15.9388058% в2024. Прирост4.2352п.п., положителен99.5701% из24192пар. Причины роста не идентифицированы.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Все шесть требуемых ICVI посчитаны:SW,CH,S_Dbw,AVI,AVU,MQ. Q отдельно. S_Dbw:Halkidi,s-dbw0.4.0,nearest_centr=True. MQ — средняя внутренняя минус средняя внешняя плотность. Случайный baseline сохраняет размеры групп,20перестановок.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Переходы сохраняют все потоки, включая разделение и объединение. ARI не зависит от числовых меток. Смена метки может отражать не изменение реального профиля, а изменение границы алгоритма.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Seed_support — доля совпавших меток после Jaccard-сопоставления, не вероятность истинного экономического класса. Подвыборки без возвращения,12повторов; это не классический bootstrap.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Медианы G5=221.7,G13=524,G15=626.4. KruskalH=764.515, пространственная зависимость ограничивает p-value. Дорожные расстояния:медиана877.1км экономические рёбра,1711.05км случайные пары на наблюдаемом покрытии.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СберИндекс, официальный архив hackathonlicence.zip, CC BY-SA 4.0, скачан 07.10.2026. Собственные расчёты. Ссылки на публикации и точные определения показателей в методологическом отчёте. Код MIT, данные и производные результатыCC BY-SA4.0. GitHubрепозиторий требуется для подачи; исходники готовы к размещению.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de8369f9848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e8c058c3f47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851e75b244d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57886308949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22471815c4d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ba77429fa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DA0C2B-8404-4DA0-A505-F3BC2E28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3C38A1-8FD7-4E8C-8984-7310B0F67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E772E3-0D42-4E54-A631-D941E888E6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314BDEC-BADB-41E8-8575-1FF9C4C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296135-570C-40F3-98E1-8E1A1C5D2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CC27759-F0BF-4149-99C8-D5F35C0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6D9A56-56D2-482E-B296-78F54DDF9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1117278-D9A1-43B8-8B4B-3D611924FA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A0BEBD-28D0-4C58-B7CD-73919C1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169295-CE92-46E4-AE62-96E146B1D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15ED07-35B1-4977-87CF-98D6D9F5F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D4E154-ED09-4F85-B9DA-B41A4E05BF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561CF0-A9B8-4B7F-9829-D45E647F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BBE797-D2AA-4E02-94BB-D07F2E9D83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4F2355-D847-48E7-A37E-ED2939B6A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9bfb5f5da441f" /><Relationship Type="http://schemas.openxmlformats.org/officeDocument/2006/relationships/slideLayout" Target="/ppt/slideLayouts/slideLayout1.xml" Id="R2f4e6576b8f34600" /><Relationship Type="http://schemas.openxmlformats.org/officeDocument/2006/relationships/slideLayout" Target="/ppt/slideLayouts/slideLayout2.xml" Id="R8e338ad3bc6a4443" /><Relationship Type="http://schemas.openxmlformats.org/officeDocument/2006/relationships/slideLayout" Target="/ppt/slideLayouts/slideLayout3.xml" Id="Rfe0250f2443c4d97" /><Relationship Type="http://schemas.openxmlformats.org/officeDocument/2006/relationships/slideLayout" Target="/ppt/slideLayouts/slideLayout4.xml" Id="R3ec9d4727609468d" /><Relationship Type="http://schemas.openxmlformats.org/officeDocument/2006/relationships/slideLayout" Target="/ppt/slideLayouts/slideLayout5.xml" Id="R2ef748875b5c4975" /><Relationship Type="http://schemas.openxmlformats.org/officeDocument/2006/relationships/slideLayout" Target="/ppt/slideLayouts/slideLayout6.xml" Id="Rf4b932c1bf55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e6576b8f34600"/>
    <p:sldLayoutId xmlns:r="http://schemas.openxmlformats.org/officeDocument/2006/relationships" id="2147483650" r:id="R8e338ad3bc6a4443"/>
    <p:sldLayoutId xmlns:r="http://schemas.openxmlformats.org/officeDocument/2006/relationships" id="2147483651" r:id="Rfe0250f2443c4d97"/>
    <p:sldLayoutId xmlns:r="http://schemas.openxmlformats.org/officeDocument/2006/relationships" id="2147483652" r:id="R3ec9d4727609468d"/>
    <p:sldLayoutId xmlns:r="http://schemas.openxmlformats.org/officeDocument/2006/relationships" id="2147483653" r:id="R2ef748875b5c4975"/>
    <p:sldLayoutId xmlns:r="http://schemas.openxmlformats.org/officeDocument/2006/relationships" id="2147483654" r:id="Rf4b932c1bf55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9fe499fd74fd9" /><Relationship Type="http://schemas.openxmlformats.org/officeDocument/2006/relationships/notesSlide" Target="/ppt/notesSlides/notesSlide1.xml" Id="R2e72727876bb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309b3da144148" /><Relationship Type="http://schemas.openxmlformats.org/officeDocument/2006/relationships/notesSlide" Target="/ppt/notesSlides/notesSlide2.xml" Id="R4455ae6bbfc649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5fe122cca412e" /><Relationship Type="http://schemas.openxmlformats.org/officeDocument/2006/relationships/notesSlide" Target="/ppt/notesSlides/notesSlide3.xml" Id="Re26a59589ac84b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3145b1ba7435c" /><Relationship Type="http://schemas.openxmlformats.org/officeDocument/2006/relationships/image" Target="/ppt/media/image.png" Id="R80bc20d8a4604015" /><Relationship Type="http://schemas.openxmlformats.org/officeDocument/2006/relationships/notesSlide" Target="/ppt/notesSlides/notesSlide4.xml" Id="R8f4eba1b286b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a1bea976f4d9f" /><Relationship Type="http://schemas.openxmlformats.org/officeDocument/2006/relationships/chart" Target="/ppt/slides/charts/chart1.xml" Id="R85c84c4e03de4a88" /><Relationship Type="http://schemas.openxmlformats.org/officeDocument/2006/relationships/notesSlide" Target="/ppt/notesSlides/notesSlide5.xml" Id="R8fd8a83bd33f45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039518f304731" /><Relationship Type="http://schemas.openxmlformats.org/officeDocument/2006/relationships/chart" Target="/ppt/slides/charts/chart2.xml" Id="Rdcce14d5d2fc43a2" /><Relationship Type="http://schemas.openxmlformats.org/officeDocument/2006/relationships/notesSlide" Target="/ppt/notesSlides/notesSlide6.xml" Id="Ra014b37a29c64c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fe2ac8a7b4952" /><Relationship Type="http://schemas.openxmlformats.org/officeDocument/2006/relationships/chart" Target="/ppt/slides/charts/chart3.xml" Id="R46647addd3ab4baf" /><Relationship Type="http://schemas.openxmlformats.org/officeDocument/2006/relationships/notesSlide" Target="/ppt/notesSlides/notesSlide7.xml" Id="Rc54a99bb8ef043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8ebc109054bf9" /><Relationship Type="http://schemas.openxmlformats.org/officeDocument/2006/relationships/chart" Target="/ppt/slides/charts/chart4.xml" Id="R7724ce8c9982453b" /><Relationship Type="http://schemas.openxmlformats.org/officeDocument/2006/relationships/notesSlide" Target="/ppt/notesSlides/notesSlide8.xml" Id="R25696608e7df44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c7235e7944b85" /><Relationship Type="http://schemas.openxmlformats.org/officeDocument/2006/relationships/chart" Target="/ppt/slides/charts/chart5.xml" Id="Rcfda70ad98af4131" /><Relationship Type="http://schemas.openxmlformats.org/officeDocument/2006/relationships/notesSlide" Target="/ppt/notesSlides/notesSlide9.xml" Id="R2dbdbe32cd6446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a32d94f4e43dd" /><Relationship Type="http://schemas.openxmlformats.org/officeDocument/2006/relationships/chart" Target="/ppt/slides/charts/chart6.xml" Id="R55c8d636f3094172" /><Relationship Type="http://schemas.openxmlformats.org/officeDocument/2006/relationships/notesSlide" Target="/ppt/notesSlides/notesSlide10.xml" Id="Rbea314f2808849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40a4cf87e4fb4" /><Relationship Type="http://schemas.openxmlformats.org/officeDocument/2006/relationships/notesSlide" Target="/ppt/notesSlides/notesSlide11.xml" Id="R5277b049730f4d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4a3d5a32f461c" /><Relationship Type="http://schemas.openxmlformats.org/officeDocument/2006/relationships/notesSlide" Target="/ppt/notesSlides/notesSlide12.xml" Id="R6f9eae5e64224eb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Продовольствие</c:v>
          </c:tx>
          <c:spPr>
            <a:solidFill xmlns:a="http://schemas.openxmlformats.org/drawingml/2006/main">
              <a:srgbClr val="157F6B"/>
            </a:solidFill>
          </c:spPr>
          <c:cat>
            <c:strRef>
              <c:f>'Chart Data'!$A$2:$A$8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47.043114</c:v>
                </c:pt>
                <c:pt idx="1">
                  <c:v>45.267787</c:v>
                </c:pt>
                <c:pt idx="2">
                  <c:v>42.37767</c:v>
                </c:pt>
                <c:pt idx="3">
                  <c:v>39.698788</c:v>
                </c:pt>
                <c:pt idx="4">
                  <c:v>36.123755</c:v>
                </c:pt>
                <c:pt idx="5">
                  <c:v>31.141587</c:v>
                </c:pt>
                <c:pt idx="6">
                  <c:v>26.64833</c:v>
                </c:pt>
              </c:numCache>
            </c:numRef>
          </c:val>
        </c:ser>
        <c:ser>
          <c:idx val="1"/>
          <c:order val="1"/>
          <c:tx>
            <c:v>Здоровье</c:v>
          </c:tx>
          <c:spPr>
            <a:solidFill xmlns:a="http://schemas.openxmlformats.org/drawingml/2006/main">
              <a:srgbClr val="3D64B1"/>
            </a:solidFill>
          </c:spPr>
          <c:cat>
            <c:strRef>
              <c:f>'Chart Data'!$C$2:$C$8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4.603168</c:v>
                </c:pt>
                <c:pt idx="1">
                  <c:v>4.274517</c:v>
                </c:pt>
                <c:pt idx="2">
                  <c:v>4.317663</c:v>
                </c:pt>
                <c:pt idx="3">
                  <c:v>4.538698</c:v>
                </c:pt>
                <c:pt idx="4">
                  <c:v>4.868641</c:v>
                </c:pt>
                <c:pt idx="5">
                  <c:v>5.428225</c:v>
                </c:pt>
                <c:pt idx="6">
                  <c:v>6.012841</c:v>
                </c:pt>
              </c:numCache>
            </c:numRef>
          </c:val>
        </c:ser>
        <c:ser>
          <c:idx val="2"/>
          <c:order val="2"/>
          <c:tx>
            <c:v>Маркетплейсы</c:v>
          </c:tx>
          <c:spPr>
            <a:solidFill xmlns:a="http://schemas.openxmlformats.org/drawingml/2006/main">
              <a:srgbClr val="D78F38"/>
            </a:solidFill>
          </c:spPr>
          <c:cat>
            <c:strRef>
              <c:f>'Chart Data'!$E$2:$E$8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Data'!$F$2:$F$8</c:f>
              <c:numCache>
                <c:formatCode>0.0</c:formatCode>
                <c:ptCount val="7"/>
                <c:pt idx="0">
                  <c:v>20.91018</c:v>
                </c:pt>
                <c:pt idx="1">
                  <c:v>18.192626</c:v>
                </c:pt>
                <c:pt idx="2">
                  <c:v>13.243004</c:v>
                </c:pt>
                <c:pt idx="3">
                  <c:v>19.223796</c:v>
                </c:pt>
                <c:pt idx="4">
                  <c:v>15.515254</c:v>
                </c:pt>
                <c:pt idx="5">
                  <c:v>14.604889</c:v>
                </c:pt>
                <c:pt idx="6">
                  <c:v>12.110218</c:v>
                </c:pt>
              </c:numCache>
            </c:numRef>
          </c:val>
        </c:ser>
        <c:ser>
          <c:idx val="3"/>
          <c:order val="3"/>
          <c:tx>
            <c:v>Общепит</c:v>
          </c:tx>
          <c:spPr>
            <a:solidFill xmlns:a="http://schemas.openxmlformats.org/drawingml/2006/main">
              <a:srgbClr val="AB4E71"/>
            </a:solidFill>
          </c:spPr>
          <c:cat>
            <c:strRef>
              <c:f>'Chart Data'!$G$2:$G$8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Data'!$H$2:$H$8</c:f>
              <c:numCache>
                <c:formatCode>0.0</c:formatCode>
                <c:ptCount val="7"/>
                <c:pt idx="0">
                  <c:v>1.362977</c:v>
                </c:pt>
                <c:pt idx="1">
                  <c:v>1.97954</c:v>
                </c:pt>
                <c:pt idx="2">
                  <c:v>3.580819</c:v>
                </c:pt>
                <c:pt idx="3">
                  <c:v>3.52718</c:v>
                </c:pt>
                <c:pt idx="4">
                  <c:v>5.813632</c:v>
                </c:pt>
                <c:pt idx="5">
                  <c:v>7.59204</c:v>
                </c:pt>
                <c:pt idx="6">
                  <c:v>9.240483</c:v>
                </c:pt>
              </c:numCache>
            </c:numRef>
          </c:val>
        </c:ser>
        <c:ser>
          <c:idx val="4"/>
          <c:order val="4"/>
          <c:tx>
            <c:v>Транспорт</c:v>
          </c:tx>
          <c:spPr>
            <a:solidFill xmlns:a="http://schemas.openxmlformats.org/drawingml/2006/main">
              <a:srgbClr val="8665B4"/>
            </a:solidFill>
          </c:spPr>
          <c:cat>
            <c:strRef>
              <c:f>'Chart Data'!$I$2:$I$8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Data'!$J$2:$J$8</c:f>
              <c:numCache>
                <c:formatCode>0.0</c:formatCode>
                <c:ptCount val="7"/>
                <c:pt idx="0">
                  <c:v>5.102098</c:v>
                </c:pt>
                <c:pt idx="1">
                  <c:v>4.869227</c:v>
                </c:pt>
                <c:pt idx="2">
                  <c:v>5.861865</c:v>
                </c:pt>
                <c:pt idx="3">
                  <c:v>5.519982</c:v>
                </c:pt>
                <c:pt idx="4">
                  <c:v>7.206464</c:v>
                </c:pt>
                <c:pt idx="5">
                  <c:v>7.532231</c:v>
                </c:pt>
                <c:pt idx="6">
                  <c:v>7.068447</c:v>
                </c:pt>
              </c:numCache>
            </c:numRef>
          </c:val>
        </c:ser>
        <c:ser>
          <c:idx val="5"/>
          <c:order val="5"/>
          <c:tx>
            <c:v>Прочие расходы</c:v>
          </c:tx>
          <c:spPr>
            <a:solidFill xmlns:a="http://schemas.openxmlformats.org/drawingml/2006/main">
              <a:srgbClr val="367B94"/>
            </a:solidFill>
          </c:spPr>
          <c:cat>
            <c:strRef>
              <c:f>'Chart Data'!$K$2:$K$8</c:f>
              <c:strCache>
                <c:ptCount val="7"/>
                <c:pt idx="0">
                  <c:v>G11</c:v>
                </c:pt>
                <c:pt idx="1">
                  <c:v>G14</c:v>
                </c:pt>
                <c:pt idx="2">
                  <c:v>G5</c:v>
                </c:pt>
                <c:pt idx="3">
                  <c:v>G9</c:v>
                </c:pt>
                <c:pt idx="4">
                  <c:v>G1</c:v>
                </c:pt>
                <c:pt idx="5">
                  <c:v>G13</c:v>
                </c:pt>
                <c:pt idx="6">
                  <c:v>G15</c:v>
                </c:pt>
              </c:strCache>
            </c:strRef>
          </c:cat>
          <c:val>
            <c:numRef>
              <c:f>'Chart Data'!$L$2:$L$8</c:f>
              <c:numCache>
                <c:formatCode>0.0</c:formatCode>
                <c:ptCount val="7"/>
                <c:pt idx="0">
                  <c:v>20.978464</c:v>
                </c:pt>
                <c:pt idx="1">
                  <c:v>25.416303</c:v>
                </c:pt>
                <c:pt idx="2">
                  <c:v>30.61898</c:v>
                </c:pt>
                <c:pt idx="3">
                  <c:v>27.491556</c:v>
                </c:pt>
                <c:pt idx="4">
                  <c:v>30.472254</c:v>
                </c:pt>
                <c:pt idx="5">
                  <c:v>33.701029</c:v>
                </c:pt>
                <c:pt idx="6">
                  <c:v>38.919682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Группа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расходов,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Маркетплейсы</c:v>
          </c:tx>
          <c:spPr>
            <a:solidFill xmlns:a="http://schemas.openxmlformats.org/drawingml/2006/main">
              <a:srgbClr val="157F6B"/>
            </a:solidFill>
          </c:spPr>
          <c:cat>
            <c:numRef>
              <c:f>'Chart Data'!$A$2:$A$3</c:f>
              <c:numCache>
                <c:formatCode>0.0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11.703606</c:v>
                </c:pt>
                <c:pt idx="1">
                  <c:v>15.938806</c:v>
                </c:pt>
              </c:numCache>
            </c:numRef>
          </c:val>
        </c:ser>
        <c:dLbls>
          <c:numFmt formatCode="0.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расходов,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SW, разделение профилей</c:v>
          </c:tx>
          <c:spPr>
            <a:solidFill xmlns:a="http://schemas.openxmlformats.org/drawingml/2006/main">
              <a:srgbClr val="3D64B1"/>
            </a:solidFill>
          </c:spPr>
          <c:cat>
            <c:strRef>
              <c:f>'Chart Data'!$A$2:$A$4</c:f>
              <c:strCache>
                <c:ptCount val="3"/>
                <c:pt idx="0">
                  <c:v>Leiden</c:v>
                </c:pt>
                <c:pt idx="1">
                  <c:v>K-means</c:v>
                </c:pt>
                <c:pt idx="2">
                  <c:v>Ward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0.180389</c:v>
                </c:pt>
                <c:pt idx="1">
                  <c:v>0.222521</c:v>
                </c:pt>
                <c:pt idx="2">
                  <c:v>0.217474</c:v>
                </c:pt>
              </c:numCache>
            </c:numRef>
          </c:val>
        </c:ser>
        <c:ser>
          <c:idx val="1"/>
          <c:order val="1"/>
          <c:tx>
            <c:v>AVI, изоляция групп</c:v>
          </c:tx>
          <c:spPr>
            <a:solidFill xmlns:a="http://schemas.openxmlformats.org/drawingml/2006/main">
              <a:srgbClr val="157F6B"/>
            </a:solidFill>
          </c:spPr>
          <c:cat>
            <c:strRef>
              <c:f>'Chart Data'!$C$2:$C$4</c:f>
              <c:strCache>
                <c:ptCount val="3"/>
                <c:pt idx="0">
                  <c:v>Leiden</c:v>
                </c:pt>
                <c:pt idx="1">
                  <c:v>K-means</c:v>
                </c:pt>
                <c:pt idx="2">
                  <c:v>Ward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0.917334</c:v>
                </c:pt>
                <c:pt idx="1">
                  <c:v>0.859213</c:v>
                </c:pt>
                <c:pt idx="2">
                  <c:v>0.863832</c:v>
                </c:pt>
              </c:numCache>
            </c:numRef>
          </c:val>
        </c:ser>
        <c:dLbls>
          <c:numFmt formatCode="0.00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Значение индекса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ARI соседних месяцев</c:v>
          </c:tx>
          <c:spPr>
            <a:ln xmlns:a="http://schemas.openxmlformats.org/drawingml/2006/main" w="28575">
              <a:solidFill>
                <a:srgbClr val="157F6B"/>
              </a:solidFill>
            </a:ln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</c:strCache>
            </c:str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0.448756</c:v>
                </c:pt>
                <c:pt idx="1">
                  <c:v>0.466493</c:v>
                </c:pt>
                <c:pt idx="2">
                  <c:v>0.565213</c:v>
                </c:pt>
                <c:pt idx="3">
                  <c:v>0.589947</c:v>
                </c:pt>
                <c:pt idx="4">
                  <c:v>0.449652</c:v>
                </c:pt>
                <c:pt idx="5">
                  <c:v>0.423549</c:v>
                </c:pt>
                <c:pt idx="6">
                  <c:v>0.501102</c:v>
                </c:pt>
                <c:pt idx="7">
                  <c:v>0.540236</c:v>
                </c:pt>
                <c:pt idx="8">
                  <c:v>0.518251</c:v>
                </c:pt>
                <c:pt idx="9">
                  <c:v>0.387185</c:v>
                </c:pt>
                <c:pt idx="10">
                  <c:v>0.5698</c:v>
                </c:pt>
                <c:pt idx="11">
                  <c:v>0.626032</c:v>
                </c:pt>
              </c:numCache>
            </c:numRef>
          </c:val>
          <c:smooth val="0"/>
        </c:ser>
        <c:ser>
          <c:idx val="1"/>
          <c:order val="1"/>
          <c:tx>
            <c:v>Доля переходов</c:v>
          </c:tx>
          <c:spPr>
            <a:ln xmlns:a="http://schemas.openxmlformats.org/drawingml/2006/main" w="28575">
              <a:solidFill>
                <a:srgbClr val="D78F38"/>
              </a:solidFill>
            </a:ln>
          </c:spPr>
          <c:marker>
            <c:symbol val="none"/>
          </c:marker>
          <c:cat>
            <c:strRef>
              <c:f>'Chart Data'!$C$2:$C$13</c:f>
              <c:strCache>
                <c:ptCount val="12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</c:strCache>
            </c:strRef>
          </c:cat>
          <c:val>
            <c:numRef>
              <c:f>'Chart Data'!$D$2:$D$13</c:f>
              <c:numCache>
                <c:formatCode>0.0</c:formatCode>
                <c:ptCount val="12"/>
                <c:pt idx="0">
                  <c:v>0.380456</c:v>
                </c:pt>
                <c:pt idx="1">
                  <c:v>0.359623</c:v>
                </c:pt>
                <c:pt idx="2">
                  <c:v>0.267361</c:v>
                </c:pt>
                <c:pt idx="3">
                  <c:v>0.241567</c:v>
                </c:pt>
                <c:pt idx="4">
                  <c:v>0.387401</c:v>
                </c:pt>
                <c:pt idx="5">
                  <c:v>0.431548</c:v>
                </c:pt>
                <c:pt idx="6">
                  <c:v>0.356151</c:v>
                </c:pt>
                <c:pt idx="7">
                  <c:v>0.256448</c:v>
                </c:pt>
                <c:pt idx="8">
                  <c:v>0.313988</c:v>
                </c:pt>
                <c:pt idx="9">
                  <c:v>0.446925</c:v>
                </c:pt>
                <c:pt idx="10">
                  <c:v>0.236111</c:v>
                </c:pt>
                <c:pt idx="11">
                  <c:v>0.197917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Доля / индекс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Поддержка ≥ 80%</c:v>
          </c:tx>
          <c:spPr>
            <a:solidFill xmlns:a="http://schemas.openxmlformats.org/drawingml/2006/main">
              <a:srgbClr val="157F6B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rPr>
                      <a:t>1239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FFFFFF"/>
                      </a:solidFill>
                      <a:latin typeface="DejaVu Sans"/>
                      <a:ea typeface="DejaVu Sans"/>
                      <a:cs typeface="DejaVu Sans"/>
                    </a:defRPr>
                  </a:pPr>
                </a:p>
              </c:txPr>
              <c:showVal val="0"/>
            </c:dLbl>
          </c:dLbls>
          <c:cat>
            <c:strRef>
              <c:f>'Chart Data'!$A$2:$A$2</c:f>
              <c:strCache>
                <c:ptCount val="1"/>
                <c:pt idx="0">
                  <c:v>Декабрь 2024</c:v>
                </c:pt>
              </c:strCache>
            </c:strRef>
          </c:cat>
          <c:val>
            <c:numRef>
              <c:f>'Chart Data'!$B$2:$B$2</c:f>
              <c:numCache>
                <c:formatCode>0.0</c:formatCode>
                <c:ptCount val="1"/>
                <c:pt idx="0">
                  <c:v>1239</c:v>
                </c:pt>
              </c:numCache>
            </c:numRef>
          </c:val>
        </c:ser>
        <c:ser>
          <c:idx val="1"/>
          <c:order val="1"/>
          <c:tx>
            <c:v>Пограничные</c:v>
          </c:tx>
          <c:spPr>
            <a:solidFill xmlns:a="http://schemas.openxmlformats.org/drawingml/2006/main">
              <a:srgbClr val="D78F38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rPr>
                      <a:t>777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FFFFFF"/>
                      </a:solidFill>
                      <a:latin typeface="DejaVu Sans"/>
                      <a:ea typeface="DejaVu Sans"/>
                      <a:cs typeface="DejaVu Sans"/>
                    </a:defRPr>
                  </a:pPr>
                </a:p>
              </c:txPr>
              <c:showVal val="0"/>
            </c:dLbl>
          </c:dLbls>
          <c:cat>
            <c:strRef>
              <c:f>'Chart Data'!$C$2:$C$2</c:f>
              <c:strCache>
                <c:ptCount val="1"/>
                <c:pt idx="0">
                  <c:v>Декабрь 2024</c:v>
                </c:pt>
              </c:strCache>
            </c:strRef>
          </c:cat>
          <c:val>
            <c:numRef>
              <c:f>'Chart Data'!$D$2:$D$2</c:f>
              <c:numCache>
                <c:formatCode>0.0</c:formatCode>
                <c:ptCount val="1"/>
                <c:pt idx="0">
                  <c:v>777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FFFF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Месяц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2016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Количество территорий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Медиана доступности рынков</c:v>
          </c:tx>
          <c:spPr>
            <a:solidFill xmlns:a="http://schemas.openxmlformats.org/drawingml/2006/main">
              <a:srgbClr val="157F6B"/>
            </a:solidFill>
          </c:spPr>
          <c:cat>
            <c:strRef>
              <c:f>'Chart Data'!$A$2:$A$8</c:f>
              <c:strCache>
                <c:ptCount val="7"/>
                <c:pt idx="0">
                  <c:v>G1</c:v>
                </c:pt>
                <c:pt idx="1">
                  <c:v>G5</c:v>
                </c:pt>
                <c:pt idx="2">
                  <c:v>G9</c:v>
                </c:pt>
                <c:pt idx="3">
                  <c:v>G11</c:v>
                </c:pt>
                <c:pt idx="4">
                  <c:v>G13</c:v>
                </c:pt>
                <c:pt idx="5">
                  <c:v>G14</c:v>
                </c:pt>
                <c:pt idx="6">
                  <c:v>G15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347.3</c:v>
                </c:pt>
                <c:pt idx="1">
                  <c:v>221.7</c:v>
                </c:pt>
                <c:pt idx="2">
                  <c:v>315.25</c:v>
                </c:pt>
                <c:pt idx="3">
                  <c:v>336.2</c:v>
                </c:pt>
                <c:pt idx="4">
                  <c:v>524</c:v>
                </c:pt>
                <c:pt idx="5">
                  <c:v>305.3</c:v>
                </c:pt>
                <c:pt idx="6">
                  <c:v>626.4</c:v>
                </c:pt>
              </c:numCache>
            </c:numRef>
          </c:val>
        </c:ser>
        <c:dLbls>
          <c:numFmt formatCode="0.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Индекс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DB9C-CB96-4F49-9069-76C9380C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Экономический отпечаток</a:t>
            </a:r>
          </a:p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муниципалитетов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C0CE2-198C-49E0-96BB-8D26265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AD88D-E80E-4A77-880C-8160F49C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E16B8-2047-4902-AEE7-D972D0B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Динамические сети потребительских профилей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D44A5-7951-4D48-B340-4331F91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2 016 территорий · 24 месяца · 7 групп в декабре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AA45-47CD-4396-B92F-FC803DB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Реальные данные СберИндекса. Воспроизводимый анализ.</a:t>
            </a:r>
          </a:p>
          <a:p xmlns:a="http://schemas.openxmlformats.org/drawingml/2006/main">
            <a:pPr>
              <a:defRPr sz="202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Устойчивые ядра и пограничные случаи.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46DA0-08B6-409A-A10B-2331E25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Конкурс СберИндекса · Направление «Кластеризация»</a:t>
            </a:r>
          </a:p>
        </p:txBody>
      </p:sp>
    </p:spTree>
    <p:extLst>
      <p:ext uri="{BB962C8B-B14F-4D97-AF65-F5344CB8AC3E}">
        <p14:creationId xmlns:p14="http://schemas.microsoft.com/office/powerpoint/2010/main" val="134195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B3C2E-BF98-49EF-A334-7B64B01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Данные и границы анализа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D8872-D82C-4113-A4F3-3876881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Январь 2023 — декабрь 2024. Средние безналичные расходы жителей МО.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815C2-992F-45B3-9FAE-E335C9C3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E6020-C565-4C36-9C48-BB6F11FD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DA61-58BE-4B74-9A3D-45FD39A6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638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303 126 исходных строк</a:t>
            </a:r>
          </a:p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2 190 территориальных идентификаторов</a:t>
            </a:r>
          </a:p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2 016 территорий с полными рядами</a:t>
            </a:r>
          </a:p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174 территории исключены из полной панели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56383-062E-4CA7-AE61-DAAF494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Пропуски не заменяются нулями.</a:t>
            </a:r>
          </a:p>
          <a:p xmlns:a="http://schemas.openxmlformats.org/drawingml/2006/main">
            <a:pPr>
              <a:def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territory_id задаёт постоянные границы.</a:t>
            </a:r>
          </a:p>
          <a:p xmlns:a="http://schemas.openxmlformats.org/drawingml/2006/main">
            <a:pPr>
              <a:def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Общий уровень расходов отделён от структуры.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9FBAD-C6B6-48E2-AA89-90CF7E25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762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Дополнительная проверка:</a:t>
            </a:r>
          </a:p>
          <a:p xmlns:a="http://schemas.openxmlformats.org/drawingml/2006/main">
            <a:pPr>
              <a:def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доступность рынков за 2024</a:t>
            </a:r>
          </a:p>
          <a:p xmlns:a="http://schemas.openxmlformats.org/drawingml/2006/main">
            <a:pPr>
              <a:def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и дорожные расстояния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9804F-A033-48BC-AA9E-EB1140B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376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Данные и производные результаты</a:t>
            </a:r>
          </a:p>
          <a:p xmlns:a="http://schemas.openxmlformats.org/drawingml/2006/main">
            <a:pPr>
              <a:defRPr sz="1800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CC BY-SA 4.0</a:t>
            </a:r>
          </a:p>
        </p:txBody>
      </p:sp>
    </p:spTree>
    <p:extLst>
      <p:ext uri="{BB962C8B-B14F-4D97-AF65-F5344CB8AC3E}">
        <p14:creationId xmlns:p14="http://schemas.microsoft.com/office/powerpoint/2010/main" val="2027983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51A75-76C4-4CF7-8336-AA0FC5B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Признаки потребительского профиля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A5DC6-AA05-4987-8717-9C02F2F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Шесть непересекающихся долей, сумма равна единице.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29605-800F-4119-99AE-898E9A63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36CEA-A3B4-4FA1-8C76-00C13982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16B81-7864-46EA-8E5D-1594E598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Продовольствие, здоровье, маркетплейсы,</a:t>
            </a:r>
          </a:p>
          <a:p xmlns:a="http://schemas.openxmlformats.org/drawingml/2006/main">
            <a:pPr>
              <a:def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общественное питание, транспорт, прочие расходы.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47C3A-5782-4B35-805E-2C1ED9D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38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p = расход категории / расход по всем категориям</a:t>
            </a:r>
          </a:p>
          <a:p xmlns:a="http://schemas.openxmlformats.org/drawingml/2006/main">
            <a:pPr>
              <a:def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x = √p̄</a:t>
            </a:r>
          </a:p>
          <a:p xmlns:a="http://schemas.openxmlformats.org/drawingml/2006/main">
            <a:pPr>
              <a:def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H = ||xᵢ − xⱼ||₂ / √2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E18C9-2228-417E-B5A6-EB1409B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p̄ — среднее месячных долей за последние шесть месяцев.</a:t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Будущие наблюдения не используются. Окна 1 и 3 месяца проверены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921884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E0D8-B8DF-4B21-A8F9-EC9950E9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Экономическая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48AF4-D18E-42F6-BDD4-0C50642F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Union-kNN: 12 ближайших соседей. Ребро отражает сходство расходов.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4563B-AC27-484F-944F-33C5BFD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55AEC-FE8C-4C6A-9AFC-FD5B7EF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c20d8a4604015"/>
          <a:stretch xmlns:a="http://schemas.openxmlformats.org/drawingml/2006/main"/>
        </p:blipFill>
        <p:spPr>
          <a:xfrm xmlns:a="http://schemas.openxmlformats.org/drawingml/2006/main">
            <a:off x="908844" y="2047875"/>
            <a:ext cx="7421563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8793D-D1E2-4EAC-A0E9-D3A7DFE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85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wᵢⱼ = exp(−d² / σᵢσⱼ)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Самопетли исключены.</a:t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Локальная шкала весов.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Это сходство, а не</a:t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наблюдаемые потоки.</a:t>
            </a:r>
          </a:p>
        </p:txBody>
      </p:sp>
    </p:spTree>
    <p:extLst>
      <p:ext uri="{BB962C8B-B14F-4D97-AF65-F5344CB8AC3E}">
        <p14:creationId xmlns:p14="http://schemas.microsoft.com/office/powerpoint/2010/main" val="627396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D4A20-7EB4-4CE7-8A3D-3B378EC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Семь профилей потребления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A87C9-474B-4FD5-95A3-0DAE1AE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Доли расходов в среднем за июль–декабрь 2024, %.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A6090-292B-41A8-8010-502FA6C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0004F-6C34-425C-B5E5-B42A0209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c84c4e03de4a8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C95B1-21B8-4F56-94E6-F7E84D43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G11 — продовольствие и маркетплейсы. G15 — диверсифицированный сервисный профиль.</a:t>
            </a:r>
          </a:p>
        </p:txBody>
      </p:sp>
    </p:spTree>
    <p:extLst>
      <p:ext uri="{BB962C8B-B14F-4D97-AF65-F5344CB8AC3E}">
        <p14:creationId xmlns:p14="http://schemas.microsoft.com/office/powerpoint/2010/main" val="1748357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DCF16-9BF3-4B65-98D2-429776C1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Доля маркетплейсов выросла на 4,24 п. п.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74DB5-9043-4861-9028-0B00427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Среднее по территориям, без взвешивания населением. Исходные месячные доли.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83DE-81C0-48D2-8FED-1879468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072A-8885-4896-A81F-4DBCB5B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ce14d5d2fc43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1635F-4685-484A-8CF2-1E164570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Рост в 99,6% пар «территория–месяц» при сравнении одинаковых месяцев год к году.</a:t>
            </a:r>
          </a:p>
        </p:txBody>
      </p:sp>
    </p:spTree>
    <p:extLst>
      <p:ext uri="{BB962C8B-B14F-4D97-AF65-F5344CB8AC3E}">
        <p14:creationId xmlns:p14="http://schemas.microsoft.com/office/powerpoint/2010/main" val="1688718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39344-3536-401E-9F11-116EA464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Методы выигрывают по разным критериям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19C67-BD1A-4B25-8CB8-F3B729B0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Одинаковые признаки, одна сеть и K = 7. Декабрь 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12534-27A6-42F0-943F-04D53EA6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D5D0A-31F1-4E32-889A-5392358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647addd3ab4ba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D0CF2-CB52-40A1-AE02-F9264C9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K-means лучше по SW и CH. Leiden лучше по AVI, MQ, Q и выбранному S_Dbw.</a:t>
            </a:r>
          </a:p>
        </p:txBody>
      </p:sp>
    </p:spTree>
    <p:extLst>
      <p:ext uri="{BB962C8B-B14F-4D97-AF65-F5344CB8AC3E}">
        <p14:creationId xmlns:p14="http://schemas.microsoft.com/office/powerpoint/2010/main" val="846080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B7900-4298-4623-A7FE-59D2DCF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Состав групп меняется во времени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3EBA8-09B9-4500-B1E0-F399209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Jaccard и венгерский алгоритм сопоставляют группы соседних месяцев.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1176-D099-4F14-BA4D-240AAD6A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56214-961D-4F35-B266-74D7CE58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24ce8c9982453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B5803-F37A-406C-A5D7-68F2BF97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За все 23 перехода: средний ARI = 0.522, смена группы = 30.1%.</a:t>
            </a:r>
          </a:p>
        </p:txBody>
      </p:sp>
    </p:spTree>
    <p:extLst>
      <p:ext uri="{BB962C8B-B14F-4D97-AF65-F5344CB8AC3E}">
        <p14:creationId xmlns:p14="http://schemas.microsoft.com/office/powerpoint/2010/main" val="19860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4CFE-D00E-4F1D-9611-9251C98B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Устойчивое ядро и пограничные территории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CD48D-48D5-44D9-BC2C-6BEC3B2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12 запусков с разными seed. Поддержка метки не ниже 80%.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D7D85-CAFA-4D6C-8128-0C1CDAB7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0B886-6A40-495C-A3C4-74A6DCA3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da70ad98af413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21EA9-A260-4817-BC54-07C0D64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Устойчивое ядро: 1239 МО (61.5%).</a:t>
            </a:r>
          </a:p>
          <a:p xmlns:a="http://schemas.openxmlformats.org/drawingml/2006/main">
            <a:pPr>
              <a:def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Средний ARI подвыборок по 80% МО: 0.552.</a:t>
            </a:r>
          </a:p>
        </p:txBody>
      </p:sp>
    </p:spTree>
    <p:extLst>
      <p:ext uri="{BB962C8B-B14F-4D97-AF65-F5344CB8AC3E}">
        <p14:creationId xmlns:p14="http://schemas.microsoft.com/office/powerpoint/2010/main" val="19935650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A299C-9EFC-4584-90A5-72F8ED1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Группы различаются доступностью рынков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E448C-C5A3-4620-98C5-C981B532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Внешний показатель не участвовал в признаках и подборе кластеров.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DD4D-F12A-450F-BCC9-4629AF8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44E3E-D929-4316-B64F-B847255B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c8d636f309417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FC6C4-0A04-4434-A344-7AC03531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Покрытие: 2 004 МО. Описательный размер эффекта ε² = 0,380. Причинный вывод не следует.</a:t>
            </a:r>
          </a:p>
        </p:txBody>
      </p:sp>
    </p:spTree>
    <p:extLst>
      <p:ext uri="{BB962C8B-B14F-4D97-AF65-F5344CB8AC3E}">
        <p14:creationId xmlns:p14="http://schemas.microsoft.com/office/powerpoint/2010/main" val="15678162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36B84-B4B5-4105-A6F6-46D296D7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Применение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B117-8202-4E65-8E4B-434A75F6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Профиль помогает подобрать аналоги территории и проверить изменение спроса.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30641-32D5-447D-B451-FA6B3648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07FC0-1E92-48E5-A9F2-0777D42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1D02-115E-483B-8DBF-F9227A17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668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Выбор территории и её экономических соседей</a:t>
            </a:r>
          </a:p>
          <a:p xmlns:a="http://schemas.openxmlformats.org/drawingml/2006/main">
            <a:pPr>
              <a:def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История исходных долей и среднего профиля</a:t>
            </a:r>
          </a:p>
          <a:p xmlns:a="http://schemas.openxmlformats.org/drawingml/2006/main">
            <a:pPr>
              <a:def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Все переходы между группами в Sankey</a:t>
            </a:r>
          </a:p>
          <a:p xmlns:a="http://schemas.openxmlformats.org/drawingml/2006/main">
            <a:pPr>
              <a:def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Проверка поддержки и чувствительности параметров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5A3B5-203D-4642-835B-F5236ACE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Расходы номинальные и модельные. Группы перекрываются.</a:t>
            </a:r>
          </a:p>
          <a:p xmlns:a="http://schemas.openxmlformats.org/drawingml/2006/main">
            <a:pPr>
              <a:def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Переход не доказывает шок. Полная панель не охватывает все МО России.</a:t>
            </a:r>
          </a:p>
          <a:p xmlns:a="http://schemas.openxmlformats.org/drawingml/2006/main">
            <a:pPr>
              <a:def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Наименования и карта границ в текущей версии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57656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F5D65-E957-421D-A58A-AEDDE592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Воспроизводимое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AE2EE-2D36-4E92-98EB-9D8FD80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Исходные данные, контрольные суммы и все результаты включены в пакет.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B309A-F772-4148-B531-8640C3A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Экономический отпечаток · Кластеризация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5468E-B3CE-4853-9C3B-D4462FC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96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C32DD-D629-4D5B-B8CB-52068DB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config.yaml — гиперпараметры</a:t>
            </a:r>
          </a:p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requirements.txt — фиксированные версии</a:t>
            </a:r>
          </a:p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src/pipeline.py — весь расчёт</a:t>
            </a:r>
          </a:p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tests/ — аналитические проверки графов и панели</a:t>
            </a:r>
          </a:p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docs/interactive.html — автономная визуализация</a:t>
            </a:r>
          </a:p>
          <a:p xmlns:a="http://schemas.openxmlformats.org/drawingml/2006/main">
            <a:pPr>
              <a:def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4362D"/>
                </a:solidFill>
                <a:latin typeface="DejaVu Sans"/>
                <a:ea typeface="DejaVu Sans"/>
                <a:cs typeface="DejaVu Sans"/>
              </a:rPr>
              <a:t>docs/methodology_ru.pdf — русский отчёт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0E603-0DC8-4D98-B28D-B77C700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7F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57F6B"/>
                </a:solidFill>
                <a:latin typeface="DejaVu Sans"/>
                <a:ea typeface="DejaVu Sans"/>
                <a:cs typeface="DejaVu Sans"/>
              </a:rPr>
              <a:t>Методология и ограничения раскрыты. Экономические выводы отделены от гипотез.</a:t>
            </a:r>
          </a:p>
        </p:txBody>
      </p:sp>
    </p:spTree>
    <p:extLst>
      <p:ext uri="{BB962C8B-B14F-4D97-AF65-F5344CB8AC3E}">
        <p14:creationId xmlns:p14="http://schemas.microsoft.com/office/powerpoint/2010/main" val="1427665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2026-10-07T05:07:52.4370000Z</dcterms:created>
  <dcterms:modified xsi:type="dcterms:W3CDTF">2026-10-07T05:07:52.4370000Z</dcterms:modified>
</coreProperties>
</file>